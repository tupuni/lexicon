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2" r:id="rId4"/>
    <p:sldId id="260" r:id="rId5"/>
    <p:sldId id="264" r:id="rId6"/>
    <p:sldId id="259" r:id="rId7"/>
    <p:sldId id="263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4CE"/>
    <a:srgbClr val="F3F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70"/>
    <p:restoredTop sz="93219"/>
  </p:normalViewPr>
  <p:slideViewPr>
    <p:cSldViewPr snapToGrid="0">
      <p:cViewPr varScale="1">
        <p:scale>
          <a:sx n="114" d="100"/>
          <a:sy n="114" d="100"/>
        </p:scale>
        <p:origin x="121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5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0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77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21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08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98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04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7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33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37440-0025-3045-B9BD-34A340DBF26F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23E59-E26F-FD47-AB82-1D1366919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20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37440-0025-3045-B9BD-34A340DBF26F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23E59-E26F-FD47-AB82-1D1366919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86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2F7A-373F-8B00-6A36-47D5A6267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212890"/>
            <a:ext cx="6858000" cy="1316212"/>
          </a:xfrm>
        </p:spPr>
        <p:txBody>
          <a:bodyPr>
            <a:normAutofit/>
          </a:bodyPr>
          <a:lstStyle/>
          <a:p>
            <a:r>
              <a:rPr lang="en-US" sz="7200" b="1" dirty="0"/>
              <a:t>Lexicon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E8D4C1-8C2A-83E2-6A75-BB2ECAC9B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970299"/>
            <a:ext cx="6858000" cy="2701298"/>
          </a:xfrm>
        </p:spPr>
        <p:txBody>
          <a:bodyPr>
            <a:normAutofit/>
          </a:bodyPr>
          <a:lstStyle/>
          <a:p>
            <a:r>
              <a:rPr lang="en-US" sz="2800" b="1" dirty="0"/>
              <a:t>of</a:t>
            </a:r>
          </a:p>
          <a:p>
            <a:r>
              <a:rPr lang="en-US" sz="2800" b="1" dirty="0"/>
              <a:t>   </a:t>
            </a:r>
          </a:p>
          <a:p>
            <a:endParaRPr lang="en-US" sz="2800" b="1" dirty="0"/>
          </a:p>
          <a:p>
            <a:r>
              <a:rPr lang="en-US" sz="2800" b="1" dirty="0"/>
              <a:t> </a:t>
            </a:r>
          </a:p>
          <a:p>
            <a:r>
              <a:rPr lang="en-US" sz="2800" b="1" dirty="0"/>
              <a:t>Technology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5106D5-733E-B81A-1A8F-AB28FF8987F6}"/>
              </a:ext>
            </a:extLst>
          </p:cNvPr>
          <p:cNvSpPr/>
          <p:nvPr/>
        </p:nvSpPr>
        <p:spPr>
          <a:xfrm>
            <a:off x="2083705" y="3967862"/>
            <a:ext cx="1568600" cy="54111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stone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FCB8AB-D20E-7B29-EB78-82DDF98CE451}"/>
              </a:ext>
            </a:extLst>
          </p:cNvPr>
          <p:cNvSpPr/>
          <p:nvPr/>
        </p:nvSpPr>
        <p:spPr>
          <a:xfrm>
            <a:off x="3787700" y="3967862"/>
            <a:ext cx="1568600" cy="5411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bone</a:t>
            </a:r>
            <a:endParaRPr lang="fr-F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79F930-BBAE-0126-1F35-E4C44C61312C}"/>
              </a:ext>
            </a:extLst>
          </p:cNvPr>
          <p:cNvSpPr/>
          <p:nvPr/>
        </p:nvSpPr>
        <p:spPr>
          <a:xfrm>
            <a:off x="5491695" y="3967862"/>
            <a:ext cx="1568600" cy="5411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 err="1">
                <a:solidFill>
                  <a:schemeClr val="accent2">
                    <a:lumMod val="50000"/>
                  </a:schemeClr>
                </a:solidFill>
              </a:rPr>
              <a:t>pottery</a:t>
            </a:r>
            <a:endParaRPr lang="fr-FR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F1E0F839-2487-A427-3926-563509001EDA}"/>
              </a:ext>
            </a:extLst>
          </p:cNvPr>
          <p:cNvGrpSpPr/>
          <p:nvPr/>
        </p:nvGrpSpPr>
        <p:grpSpPr>
          <a:xfrm>
            <a:off x="0" y="-31191"/>
            <a:ext cx="9144000" cy="889745"/>
            <a:chOff x="0" y="-31191"/>
            <a:chExt cx="9144000" cy="88974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E9A0A5-10BA-D61D-F8D4-B3A7EF6F485C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FF96861D-A3DD-3753-D07F-6C3071FE142B}"/>
                </a:ext>
              </a:extLst>
            </p:cNvPr>
            <p:cNvSpPr txBox="1">
              <a:spLocks/>
            </p:cNvSpPr>
            <p:nvPr/>
          </p:nvSpPr>
          <p:spPr>
            <a:xfrm>
              <a:off x="92597" y="216807"/>
              <a:ext cx="9051403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fr-FR" sz="1400" dirty="0">
                  <a:latin typeface="Helvetica Light" panose="020B0403020202020204" pitchFamily="34" charset="0"/>
                  <a:cs typeface="Arial" panose="020B0604020202020204" pitchFamily="34" charset="0"/>
                </a:rPr>
                <a:t>Réunion préparatoire						20/03/2026 UMR 8068 Temps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1241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1C9082EC-278D-C46C-2BB2-7B8EFC0B1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67" y="3736717"/>
            <a:ext cx="3981491" cy="3129115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C930295D-414D-66EC-D12C-D434B0321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64" y="594938"/>
            <a:ext cx="4379640" cy="3329290"/>
          </a:xfrm>
          <a:prstGeom prst="rect">
            <a:avLst/>
          </a:prstGeom>
        </p:spPr>
      </p:pic>
      <p:grpSp>
        <p:nvGrpSpPr>
          <p:cNvPr id="30" name="Groupe 29">
            <a:extLst>
              <a:ext uri="{FF2B5EF4-FFF2-40B4-BE49-F238E27FC236}">
                <a16:creationId xmlns:a16="http://schemas.microsoft.com/office/drawing/2014/main" id="{C0970FDB-60DF-7E14-7B4B-60476FAC0D84}"/>
              </a:ext>
            </a:extLst>
          </p:cNvPr>
          <p:cNvGrpSpPr/>
          <p:nvPr/>
        </p:nvGrpSpPr>
        <p:grpSpPr>
          <a:xfrm>
            <a:off x="4957451" y="2083295"/>
            <a:ext cx="3861821" cy="2226185"/>
            <a:chOff x="4479309" y="1346953"/>
            <a:chExt cx="4248003" cy="2448804"/>
          </a:xfrm>
        </p:grpSpPr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2A3E8A4B-4DA2-29B3-76B3-6E2BD48CF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79309" y="1346953"/>
              <a:ext cx="2414589" cy="2448804"/>
            </a:xfrm>
            <a:prstGeom prst="rect">
              <a:avLst/>
            </a:prstGeom>
          </p:spPr>
        </p:pic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EED3695A-6D4C-7CEB-A7DD-0257AC994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7048" y="1346953"/>
              <a:ext cx="1810264" cy="2442148"/>
            </a:xfrm>
            <a:prstGeom prst="rect">
              <a:avLst/>
            </a:prstGeom>
          </p:spPr>
        </p:pic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74BC0D7D-DCCC-21DB-28A9-A524250692FD}"/>
              </a:ext>
            </a:extLst>
          </p:cNvPr>
          <p:cNvGrpSpPr/>
          <p:nvPr/>
        </p:nvGrpSpPr>
        <p:grpSpPr>
          <a:xfrm>
            <a:off x="0" y="-31191"/>
            <a:ext cx="9144000" cy="813640"/>
            <a:chOff x="0" y="-31191"/>
            <a:chExt cx="9144000" cy="81364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3BF6F8-CCB1-ED3B-5644-AA49F90901EC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Content Placeholder 2">
              <a:extLst>
                <a:ext uri="{FF2B5EF4-FFF2-40B4-BE49-F238E27FC236}">
                  <a16:creationId xmlns:a16="http://schemas.microsoft.com/office/drawing/2014/main" id="{1C21A0AC-2C4C-DE0B-44C0-541C5717DF79}"/>
                </a:ext>
              </a:extLst>
            </p:cNvPr>
            <p:cNvSpPr txBox="1">
              <a:spLocks/>
            </p:cNvSpPr>
            <p:nvPr/>
          </p:nvSpPr>
          <p:spPr>
            <a:xfrm>
              <a:off x="426015" y="140702"/>
              <a:ext cx="3983939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fr-FR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Un projet collectif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3303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B8447-2B24-F3F7-9291-D3B248B28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09FD7B-9C44-9A49-99CF-12C6B9DB3DA3}"/>
              </a:ext>
            </a:extLst>
          </p:cNvPr>
          <p:cNvSpPr txBox="1">
            <a:spLocks/>
          </p:cNvSpPr>
          <p:nvPr/>
        </p:nvSpPr>
        <p:spPr>
          <a:xfrm>
            <a:off x="856207" y="1153350"/>
            <a:ext cx="7523864" cy="51651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Constituer des vocabulaires harmonisés : une clé de la mise en place des savoirs scientifiques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endParaRPr lang="fr-FR" sz="300" dirty="0"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Actuellement non seulement les vocabulaires utilisés par les archéologues ne sont pas toujours harmonisés pour décrire les faits techniques…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endParaRPr lang="fr-FR" sz="300" dirty="0"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… Mais il est également difficile de mettre en regard les vocabulaires existants, au sein ou entre les langues</a:t>
            </a:r>
          </a:p>
          <a:p>
            <a:pPr>
              <a:buFont typeface="Courier New" panose="02070309020205020404" pitchFamily="49" charset="0"/>
              <a:buChar char="o"/>
              <a:defRPr/>
            </a:pPr>
            <a:endParaRPr lang="fr-FR" sz="300" dirty="0"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La compilation d’un lexique multilingue des approches technologiques en archéologie permettra de: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 Partager en ligne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 Publier au format papier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 Améliorer le dialogue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latin typeface="Helvetica Light" panose="020B0403020202020204" pitchFamily="34" charset="0"/>
                <a:cs typeface="Arial" panose="020B0604020202020204" pitchFamily="34" charset="0"/>
              </a:rPr>
              <a:t> Promouvoir des approches </a:t>
            </a:r>
          </a:p>
        </p:txBody>
      </p:sp>
      <p:pic>
        <p:nvPicPr>
          <p:cNvPr id="1026" name="Picture 2" descr="Understanding the FAIR Principles – The road to FAIR">
            <a:extLst>
              <a:ext uri="{FF2B5EF4-FFF2-40B4-BE49-F238E27FC236}">
                <a16:creationId xmlns:a16="http://schemas.microsoft.com/office/drawing/2014/main" id="{BC662BD7-0625-0E26-90A0-4A98EA020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8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841" y="5042655"/>
            <a:ext cx="3877949" cy="131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997AF57B-1305-7482-628F-B3EDDEC8381D}"/>
              </a:ext>
            </a:extLst>
          </p:cNvPr>
          <p:cNvGrpSpPr/>
          <p:nvPr/>
        </p:nvGrpSpPr>
        <p:grpSpPr>
          <a:xfrm>
            <a:off x="0" y="-31191"/>
            <a:ext cx="9144000" cy="813640"/>
            <a:chOff x="0" y="-31191"/>
            <a:chExt cx="9144000" cy="8136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9770E09-765F-C0CF-9E4D-724C4F5DD6AD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66CB8AAA-55C2-8380-B93E-5AE32802C30D}"/>
                </a:ext>
              </a:extLst>
            </p:cNvPr>
            <p:cNvSpPr txBox="1">
              <a:spLocks/>
            </p:cNvSpPr>
            <p:nvPr/>
          </p:nvSpPr>
          <p:spPr>
            <a:xfrm>
              <a:off x="426015" y="140702"/>
              <a:ext cx="4750142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fr-FR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Un projet collectif et « FAIR 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079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F37E1-A22C-94AD-5AA3-EDF6C05CD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What is Git? An overview of Git and why you should use it | by Jatin  Varlyani | Level Up Coding">
            <a:extLst>
              <a:ext uri="{FF2B5EF4-FFF2-40B4-BE49-F238E27FC236}">
                <a16:creationId xmlns:a16="http://schemas.microsoft.com/office/drawing/2014/main" id="{1B7BDF8D-2168-A114-8DBC-FBE4D5DED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7981" y="5691024"/>
            <a:ext cx="1062038" cy="641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9F74712A-020E-0365-D432-BAF52A3EF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6746" y="1636391"/>
            <a:ext cx="5432247" cy="3585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5">
            <a:extLst>
              <a:ext uri="{FF2B5EF4-FFF2-40B4-BE49-F238E27FC236}">
                <a16:creationId xmlns:a16="http://schemas.microsoft.com/office/drawing/2014/main" id="{9C6B26C0-D625-F2D1-89B3-8A20214BA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50626" y="5206541"/>
            <a:ext cx="1068578" cy="805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7FB9557-02DD-A679-29AF-4825EBF02A32}"/>
              </a:ext>
            </a:extLst>
          </p:cNvPr>
          <p:cNvSpPr txBox="1">
            <a:spLocks/>
          </p:cNvSpPr>
          <p:nvPr/>
        </p:nvSpPr>
        <p:spPr>
          <a:xfrm>
            <a:off x="551057" y="2403031"/>
            <a:ext cx="2106912" cy="32061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rPr>
              <a:t>Structurer la compilation</a:t>
            </a:r>
          </a:p>
          <a:p>
            <a:pPr>
              <a:buFont typeface="Wingdings" pitchFamily="2" charset="2"/>
              <a:buChar char="ü"/>
              <a:defRPr/>
            </a:pPr>
            <a:endParaRPr lang="fr-FR" sz="2000" dirty="0">
              <a:solidFill>
                <a:schemeClr val="tx2">
                  <a:lumMod val="75000"/>
                  <a:lumOff val="25000"/>
                </a:schemeClr>
              </a:solidFill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rPr>
              <a:t>Travailler à plusieurs sur les mêmes documents </a:t>
            </a:r>
          </a:p>
          <a:p>
            <a:pPr>
              <a:buFont typeface="Wingdings" pitchFamily="2" charset="2"/>
              <a:buChar char="ü"/>
              <a:defRPr/>
            </a:pPr>
            <a:endParaRPr lang="fr-FR" sz="2000" dirty="0">
              <a:solidFill>
                <a:schemeClr val="tx2">
                  <a:lumMod val="75000"/>
                  <a:lumOff val="25000"/>
                </a:schemeClr>
              </a:solidFill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rPr>
              <a:t>Versionner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9BAFC11E-78C9-F88A-25CC-6B53F85902D1}"/>
              </a:ext>
            </a:extLst>
          </p:cNvPr>
          <p:cNvGrpSpPr/>
          <p:nvPr/>
        </p:nvGrpSpPr>
        <p:grpSpPr>
          <a:xfrm>
            <a:off x="0" y="-31191"/>
            <a:ext cx="9144000" cy="813640"/>
            <a:chOff x="0" y="-31191"/>
            <a:chExt cx="9144000" cy="81364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8F08EDE-9523-F873-A8FB-7D8886AA3790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5404217A-E4A5-BB66-029A-205F5C225D16}"/>
                </a:ext>
              </a:extLst>
            </p:cNvPr>
            <p:cNvSpPr txBox="1">
              <a:spLocks/>
            </p:cNvSpPr>
            <p:nvPr/>
          </p:nvSpPr>
          <p:spPr>
            <a:xfrm>
              <a:off x="426015" y="140702"/>
              <a:ext cx="7141966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GB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S</a:t>
              </a:r>
              <a:r>
                <a:rPr lang="x-none" sz="2400">
                  <a:latin typeface="Helvetica Light" panose="020B0403020202020204" pitchFamily="34" charset="0"/>
                  <a:cs typeface="Arial" panose="020B0604020202020204" pitchFamily="34" charset="0"/>
                </a:rPr>
                <a:t>ystème de “forge”</a:t>
              </a:r>
              <a:r>
                <a:rPr lang="fr-FR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 </a:t>
              </a:r>
              <a:r>
                <a:rPr lang="x-none" sz="2400">
                  <a:latin typeface="Helvetica Light" panose="020B0403020202020204" pitchFamily="34" charset="0"/>
                  <a:cs typeface="Arial" panose="020B0604020202020204" pitchFamily="34" charset="0"/>
                </a:rPr>
                <a:t>utilisant la technologie git </a:t>
              </a:r>
              <a:endParaRPr lang="fr-FR" sz="2400" dirty="0">
                <a:latin typeface="Helvetica Light" panose="020B0403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43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EFC0A-C945-A6AD-726C-CDD87B02C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What is Git? An overview of Git and why you should use it | by Jatin  Varlyani | Level Up Coding">
            <a:extLst>
              <a:ext uri="{FF2B5EF4-FFF2-40B4-BE49-F238E27FC236}">
                <a16:creationId xmlns:a16="http://schemas.microsoft.com/office/drawing/2014/main" id="{886087A3-848C-6B6C-F2AF-1673C5853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7981" y="5691024"/>
            <a:ext cx="1062038" cy="641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7409677B-866A-A8ED-A363-B3493E2DE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6746" y="1636391"/>
            <a:ext cx="5432247" cy="3585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5">
            <a:extLst>
              <a:ext uri="{FF2B5EF4-FFF2-40B4-BE49-F238E27FC236}">
                <a16:creationId xmlns:a16="http://schemas.microsoft.com/office/drawing/2014/main" id="{D2AC2A34-5406-92A8-88EE-E63234F21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50626" y="5206541"/>
            <a:ext cx="1068578" cy="805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32D2E54-3AC2-3F5E-DFAC-BFF99AE58BC7}"/>
              </a:ext>
            </a:extLst>
          </p:cNvPr>
          <p:cNvSpPr txBox="1">
            <a:spLocks/>
          </p:cNvSpPr>
          <p:nvPr/>
        </p:nvSpPr>
        <p:spPr>
          <a:xfrm>
            <a:off x="551057" y="2403031"/>
            <a:ext cx="2106912" cy="32061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rPr>
              <a:t>Structurer la compilation</a:t>
            </a:r>
          </a:p>
          <a:p>
            <a:pPr>
              <a:buFont typeface="Wingdings" pitchFamily="2" charset="2"/>
              <a:buChar char="ü"/>
              <a:defRPr/>
            </a:pPr>
            <a:endParaRPr lang="fr-FR" sz="2000" dirty="0">
              <a:solidFill>
                <a:schemeClr val="tx2">
                  <a:lumMod val="75000"/>
                  <a:lumOff val="25000"/>
                </a:schemeClr>
              </a:solidFill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rPr>
              <a:t>Travailler à plusieurs sur les mêmes documents </a:t>
            </a:r>
          </a:p>
          <a:p>
            <a:pPr>
              <a:buFont typeface="Wingdings" pitchFamily="2" charset="2"/>
              <a:buChar char="ü"/>
              <a:defRPr/>
            </a:pPr>
            <a:endParaRPr lang="fr-FR" sz="2000" dirty="0">
              <a:solidFill>
                <a:schemeClr val="tx2">
                  <a:lumMod val="75000"/>
                  <a:lumOff val="25000"/>
                </a:schemeClr>
              </a:solidFill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ü"/>
              <a:defRPr/>
            </a:pPr>
            <a:r>
              <a:rPr lang="fr-FR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 Light" panose="020B0403020202020204" pitchFamily="34" charset="0"/>
                <a:cs typeface="Arial" panose="020B0604020202020204" pitchFamily="34" charset="0"/>
              </a:rPr>
              <a:t>Versionner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09A37CF8-2931-FBDE-20AB-0D101827F7C5}"/>
              </a:ext>
            </a:extLst>
          </p:cNvPr>
          <p:cNvGrpSpPr/>
          <p:nvPr/>
        </p:nvGrpSpPr>
        <p:grpSpPr>
          <a:xfrm>
            <a:off x="0" y="-31191"/>
            <a:ext cx="9144000" cy="813640"/>
            <a:chOff x="0" y="-31191"/>
            <a:chExt cx="9144000" cy="81364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FDBAE0F-191D-8F86-48A6-4716F516216E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0A2088A8-1D42-C486-52D4-2F3153209F5D}"/>
                </a:ext>
              </a:extLst>
            </p:cNvPr>
            <p:cNvSpPr txBox="1">
              <a:spLocks/>
            </p:cNvSpPr>
            <p:nvPr/>
          </p:nvSpPr>
          <p:spPr>
            <a:xfrm>
              <a:off x="426015" y="140702"/>
              <a:ext cx="7141966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GB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S</a:t>
              </a:r>
              <a:r>
                <a:rPr lang="x-none" sz="2400">
                  <a:latin typeface="Helvetica Light" panose="020B0403020202020204" pitchFamily="34" charset="0"/>
                  <a:cs typeface="Arial" panose="020B0604020202020204" pitchFamily="34" charset="0"/>
                </a:rPr>
                <a:t>ystème de “forge”</a:t>
              </a:r>
              <a:r>
                <a:rPr lang="fr-FR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 </a:t>
              </a:r>
              <a:r>
                <a:rPr lang="x-none" sz="2400">
                  <a:latin typeface="Helvetica Light" panose="020B0403020202020204" pitchFamily="34" charset="0"/>
                  <a:cs typeface="Arial" panose="020B0604020202020204" pitchFamily="34" charset="0"/>
                </a:rPr>
                <a:t>utilisant la technologie git </a:t>
              </a:r>
              <a:endParaRPr lang="fr-FR" sz="2400" dirty="0">
                <a:latin typeface="Helvetica Light" panose="020B0403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0821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3BADD-5EB2-B0AD-D480-36ACA6545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7C8B7932-63F3-C061-BE71-AD46FD0C6F30}"/>
              </a:ext>
            </a:extLst>
          </p:cNvPr>
          <p:cNvGrpSpPr/>
          <p:nvPr/>
        </p:nvGrpSpPr>
        <p:grpSpPr>
          <a:xfrm>
            <a:off x="0" y="-31191"/>
            <a:ext cx="9144000" cy="813640"/>
            <a:chOff x="0" y="-31191"/>
            <a:chExt cx="9144000" cy="81364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490CE0-AF0B-E9F8-AD0D-1CA8BD283E70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4BB84A8C-6023-848E-0FCF-4A3E48BE64B7}"/>
                </a:ext>
              </a:extLst>
            </p:cNvPr>
            <p:cNvSpPr txBox="1">
              <a:spLocks/>
            </p:cNvSpPr>
            <p:nvPr/>
          </p:nvSpPr>
          <p:spPr>
            <a:xfrm>
              <a:off x="426015" y="140702"/>
              <a:ext cx="7141966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GB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S</a:t>
              </a:r>
              <a:r>
                <a:rPr lang="x-none" sz="2400">
                  <a:latin typeface="Helvetica Light" panose="020B0403020202020204" pitchFamily="34" charset="0"/>
                  <a:cs typeface="Arial" panose="020B0604020202020204" pitchFamily="34" charset="0"/>
                </a:rPr>
                <a:t>ystème de “forge”</a:t>
              </a:r>
              <a:r>
                <a:rPr lang="fr-FR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 </a:t>
              </a:r>
              <a:r>
                <a:rPr lang="x-none" sz="2400">
                  <a:latin typeface="Helvetica Light" panose="020B0403020202020204" pitchFamily="34" charset="0"/>
                  <a:cs typeface="Arial" panose="020B0604020202020204" pitchFamily="34" charset="0"/>
                </a:rPr>
                <a:t>utilisant la technologie git </a:t>
              </a:r>
              <a:endParaRPr lang="fr-FR" sz="2400" dirty="0">
                <a:latin typeface="Helvetica Light" panose="020B0403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ZoneTexte 10">
            <a:extLst>
              <a:ext uri="{FF2B5EF4-FFF2-40B4-BE49-F238E27FC236}">
                <a16:creationId xmlns:a16="http://schemas.microsoft.com/office/drawing/2014/main" id="{73E87A58-1457-E158-CA25-113237EAC001}"/>
              </a:ext>
            </a:extLst>
          </p:cNvPr>
          <p:cNvSpPr txBox="1"/>
          <p:nvPr/>
        </p:nvSpPr>
        <p:spPr>
          <a:xfrm>
            <a:off x="426015" y="10023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https://</a:t>
            </a:r>
            <a:r>
              <a:rPr lang="fr-FR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github.com</a:t>
            </a:r>
            <a:r>
              <a:rPr lang="fr-F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</a:t>
            </a:r>
            <a:r>
              <a:rPr lang="fr-FR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tupuni</a:t>
            </a:r>
            <a:r>
              <a:rPr lang="fr-F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/</a:t>
            </a:r>
            <a:r>
              <a:rPr lang="fr-FR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lexicon</a:t>
            </a:r>
            <a:endParaRPr lang="fr-F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ABAFBCA-78E3-3F85-0F3E-43E358A7C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1591547"/>
            <a:ext cx="8549640" cy="4299211"/>
          </a:xfrm>
          <a:prstGeom prst="rect">
            <a:avLst/>
          </a:prstGeom>
        </p:spPr>
      </p:pic>
      <p:pic>
        <p:nvPicPr>
          <p:cNvPr id="13" name="Picture 6" descr="What is Git? An overview of Git and why you should use it | by Jatin  Varlyani | Level Up Coding">
            <a:extLst>
              <a:ext uri="{FF2B5EF4-FFF2-40B4-BE49-F238E27FC236}">
                <a16:creationId xmlns:a16="http://schemas.microsoft.com/office/drawing/2014/main" id="{E22AABB5-F7FA-E8B8-A006-A036A55AC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6015" y="6110641"/>
            <a:ext cx="877717" cy="53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Image 14" descr="Une image contenant Graphique, noir, Police, logo&#10;&#10;Description générée automatiquement">
            <a:extLst>
              <a:ext uri="{FF2B5EF4-FFF2-40B4-BE49-F238E27FC236}">
                <a16:creationId xmlns:a16="http://schemas.microsoft.com/office/drawing/2014/main" id="{9488C104-9D7D-4230-3C28-3B88A1AFF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238" y="6037209"/>
            <a:ext cx="1708636" cy="632377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5D66C5F2-50AE-3592-DB0B-49207D73942F}"/>
              </a:ext>
            </a:extLst>
          </p:cNvPr>
          <p:cNvSpPr txBox="1"/>
          <p:nvPr/>
        </p:nvSpPr>
        <p:spPr>
          <a:xfrm>
            <a:off x="3641024" y="6191159"/>
            <a:ext cx="1985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transférable vers 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34F89527-D14D-FCB1-734C-F3C83B3D1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257" y="6041517"/>
            <a:ext cx="2189001" cy="698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2D87D211-0DEE-200B-95BB-FCD6119E2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128" y="6238502"/>
            <a:ext cx="1312005" cy="286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02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00531-5897-67D7-D6D7-19A036661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2D4D2B72-1663-E2B9-3981-837E84FFA243}"/>
              </a:ext>
            </a:extLst>
          </p:cNvPr>
          <p:cNvGrpSpPr/>
          <p:nvPr/>
        </p:nvGrpSpPr>
        <p:grpSpPr>
          <a:xfrm>
            <a:off x="0" y="-31191"/>
            <a:ext cx="9144000" cy="813640"/>
            <a:chOff x="0" y="-31191"/>
            <a:chExt cx="9144000" cy="81364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50015E5-33DA-883E-66F5-60925190FEBF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44CB1DD0-15B7-9F3C-031B-0A4FE30AA595}"/>
                </a:ext>
              </a:extLst>
            </p:cNvPr>
            <p:cNvSpPr txBox="1">
              <a:spLocks/>
            </p:cNvSpPr>
            <p:nvPr/>
          </p:nvSpPr>
          <p:spPr>
            <a:xfrm>
              <a:off x="426015" y="140702"/>
              <a:ext cx="7141966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fr-FR" sz="2400" dirty="0">
                  <a:latin typeface="Helvetica Light" panose="020B0403020202020204" pitchFamily="34" charset="0"/>
                  <a:cs typeface="Arial" panose="020B0604020202020204" pitchFamily="34" charset="0"/>
                </a:rPr>
                <a:t>Publication de la version aboutie</a:t>
              </a:r>
            </a:p>
          </p:txBody>
        </p:sp>
      </p:grpSp>
      <p:pic>
        <p:nvPicPr>
          <p:cNvPr id="6146" name="Picture 2" descr="Opentheso – Consortium MASA">
            <a:extLst>
              <a:ext uri="{FF2B5EF4-FFF2-40B4-BE49-F238E27FC236}">
                <a16:creationId xmlns:a16="http://schemas.microsoft.com/office/drawing/2014/main" id="{1A6464A4-4549-EDBC-17AE-1A9265367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292" y="2330387"/>
            <a:ext cx="2407901" cy="608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173D4878-2ED3-40AB-35C3-2FB34387C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20" y="1491041"/>
            <a:ext cx="2361447" cy="595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Zenodo - New and Improved!">
            <a:extLst>
              <a:ext uri="{FF2B5EF4-FFF2-40B4-BE49-F238E27FC236}">
                <a16:creationId xmlns:a16="http://schemas.microsoft.com/office/drawing/2014/main" id="{26E42419-B678-4C4C-8CEF-D53759459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732" y="5098416"/>
            <a:ext cx="2437398" cy="106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Requete SQL: comment la sécuriser ...">
            <a:extLst>
              <a:ext uri="{FF2B5EF4-FFF2-40B4-BE49-F238E27FC236}">
                <a16:creationId xmlns:a16="http://schemas.microsoft.com/office/drawing/2014/main" id="{EA912EFE-6C76-2013-8945-AB62A279D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032" y="4045543"/>
            <a:ext cx="2222334" cy="116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Encyclopédie de journal de dessin animé ...">
            <a:extLst>
              <a:ext uri="{FF2B5EF4-FFF2-40B4-BE49-F238E27FC236}">
                <a16:creationId xmlns:a16="http://schemas.microsoft.com/office/drawing/2014/main" id="{3D5A7BD3-2BA4-0803-676E-C1F7C2BF7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345" y="2394687"/>
            <a:ext cx="3548380" cy="276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485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A6605-195B-38A5-8A8E-C1BCE9580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F3E1A48D-C30E-5149-5E62-A584D87516C8}"/>
              </a:ext>
            </a:extLst>
          </p:cNvPr>
          <p:cNvGrpSpPr/>
          <p:nvPr/>
        </p:nvGrpSpPr>
        <p:grpSpPr>
          <a:xfrm>
            <a:off x="0" y="-31191"/>
            <a:ext cx="9144000" cy="889745"/>
            <a:chOff x="0" y="-31191"/>
            <a:chExt cx="9144000" cy="88974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F0A5AFB-F988-9E44-9182-98633C41C1BB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83084D3C-5D85-FED7-77C0-2F088EFC80E1}"/>
                </a:ext>
              </a:extLst>
            </p:cNvPr>
            <p:cNvSpPr txBox="1">
              <a:spLocks/>
            </p:cNvSpPr>
            <p:nvPr/>
          </p:nvSpPr>
          <p:spPr>
            <a:xfrm>
              <a:off x="92597" y="216807"/>
              <a:ext cx="9051403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fr-FR" sz="1400" dirty="0">
                  <a:latin typeface="Helvetica Light" panose="020B0403020202020204" pitchFamily="34" charset="0"/>
                  <a:cs typeface="Arial" panose="020B0604020202020204" pitchFamily="34" charset="0"/>
                </a:rPr>
                <a:t>Réunion préparatoire						20/03/2026 UMR 8068 Temps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354AF7F-FF9E-2EF6-1B2E-7169167CD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441" y="1199739"/>
            <a:ext cx="5218545" cy="521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88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DC55A-6E9C-84F5-8E69-9672DCD3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11ECE7-7936-882E-EB59-3A14506E6450}"/>
              </a:ext>
            </a:extLst>
          </p:cNvPr>
          <p:cNvSpPr/>
          <p:nvPr/>
        </p:nvSpPr>
        <p:spPr>
          <a:xfrm>
            <a:off x="0" y="-31191"/>
            <a:ext cx="9144000" cy="743350"/>
          </a:xfrm>
          <a:prstGeom prst="rect">
            <a:avLst/>
          </a:prstGeom>
          <a:solidFill>
            <a:srgbClr val="F8F4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34F35-A145-C53F-8BA5-D92E74961F8B}"/>
              </a:ext>
            </a:extLst>
          </p:cNvPr>
          <p:cNvSpPr txBox="1">
            <a:spLocks/>
          </p:cNvSpPr>
          <p:nvPr/>
        </p:nvSpPr>
        <p:spPr>
          <a:xfrm>
            <a:off x="856207" y="1106552"/>
            <a:ext cx="7523864" cy="52119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3200" dirty="0">
                <a:latin typeface="Helvetica Light" panose="020B0403020202020204" pitchFamily="34" charset="0"/>
                <a:cs typeface="Arial" panose="020B0604020202020204" pitchFamily="34" charset="0"/>
              </a:rPr>
              <a:t>Plusieurs phases de travail à organiser</a:t>
            </a:r>
          </a:p>
          <a:p>
            <a:pPr marL="457200" indent="-457200">
              <a:buAutoNum type="arabicParenR"/>
              <a:defRPr/>
            </a:pPr>
            <a:endParaRPr lang="fr-FR" sz="100" dirty="0">
              <a:latin typeface="Helvetica Light" panose="020B0403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arenR"/>
              <a:defRPr/>
            </a:pPr>
            <a:r>
              <a:rPr lang="fr-FR" dirty="0">
                <a:latin typeface="Helvetica Light" panose="020B0403020202020204" pitchFamily="34" charset="0"/>
                <a:cs typeface="Arial" panose="020B0604020202020204" pitchFamily="34" charset="0"/>
              </a:rPr>
              <a:t>Compilation de lexiques existants</a:t>
            </a:r>
          </a:p>
          <a:p>
            <a:pPr marL="457200" indent="-457200">
              <a:buAutoNum type="arabicParenR"/>
              <a:defRPr/>
            </a:pPr>
            <a:r>
              <a:rPr lang="fr-FR" dirty="0">
                <a:latin typeface="Helvetica Light" panose="020B0403020202020204" pitchFamily="34" charset="0"/>
                <a:cs typeface="Arial" panose="020B0604020202020204" pitchFamily="34" charset="0"/>
              </a:rPr>
              <a:t>Combler les manques (notamment les illustrations)</a:t>
            </a:r>
          </a:p>
          <a:p>
            <a:pPr marL="457200" indent="-457200">
              <a:buAutoNum type="arabicParenR"/>
              <a:defRPr/>
            </a:pPr>
            <a:r>
              <a:rPr lang="fr-FR" dirty="0">
                <a:latin typeface="Helvetica Light" panose="020B0403020202020204" pitchFamily="34" charset="0"/>
                <a:cs typeface="Arial" panose="020B0604020202020204" pitchFamily="34" charset="0"/>
              </a:rPr>
              <a:t>Ajouter des définitions manquantes ou alternatives &gt; choisir un mode de citation d’un « consortium » en lien avec ce collectif</a:t>
            </a:r>
          </a:p>
          <a:p>
            <a:pPr marL="457200" indent="-457200">
              <a:buAutoNum type="arabicParenR"/>
              <a:defRPr/>
            </a:pPr>
            <a:r>
              <a:rPr lang="fr-FR" dirty="0">
                <a:latin typeface="Helvetica Light" panose="020B0403020202020204" pitchFamily="34" charset="0"/>
                <a:cs typeface="Arial" panose="020B0604020202020204" pitchFamily="34" charset="0"/>
              </a:rPr>
              <a:t>Hiérarchiser, relier, etc.</a:t>
            </a:r>
          </a:p>
          <a:p>
            <a:pPr marL="457200" indent="-457200">
              <a:buAutoNum type="arabicParenR"/>
              <a:defRPr/>
            </a:pPr>
            <a:r>
              <a:rPr lang="fr-FR" dirty="0">
                <a:latin typeface="Helvetica Light" panose="020B0403020202020204" pitchFamily="34" charset="0"/>
                <a:cs typeface="Arial" panose="020B0604020202020204" pitchFamily="34" charset="0"/>
              </a:rPr>
              <a:t>Publier des versions en ligne</a:t>
            </a:r>
          </a:p>
          <a:p>
            <a:pPr marL="457200" indent="-457200">
              <a:buAutoNum type="arabicParenR"/>
              <a:defRPr/>
            </a:pPr>
            <a:r>
              <a:rPr lang="fr-FR" dirty="0">
                <a:latin typeface="Helvetica Light" panose="020B0403020202020204" pitchFamily="34" charset="0"/>
                <a:cs typeface="Arial" panose="020B0604020202020204" pitchFamily="34" charset="0"/>
              </a:rPr>
              <a:t>Publier un volume papier</a:t>
            </a:r>
          </a:p>
        </p:txBody>
      </p:sp>
      <p:grpSp>
        <p:nvGrpSpPr>
          <p:cNvPr id="4" name="Groupe 7">
            <a:extLst>
              <a:ext uri="{FF2B5EF4-FFF2-40B4-BE49-F238E27FC236}">
                <a16:creationId xmlns:a16="http://schemas.microsoft.com/office/drawing/2014/main" id="{A3BCF59D-4CD1-2B3C-0370-8863B1AA6ACB}"/>
              </a:ext>
            </a:extLst>
          </p:cNvPr>
          <p:cNvGrpSpPr/>
          <p:nvPr/>
        </p:nvGrpSpPr>
        <p:grpSpPr>
          <a:xfrm>
            <a:off x="0" y="-31191"/>
            <a:ext cx="9144000" cy="889745"/>
            <a:chOff x="0" y="-31191"/>
            <a:chExt cx="9144000" cy="88974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759018-AC1E-C27E-112E-9F9C9393C0B0}"/>
                </a:ext>
              </a:extLst>
            </p:cNvPr>
            <p:cNvSpPr/>
            <p:nvPr/>
          </p:nvSpPr>
          <p:spPr>
            <a:xfrm>
              <a:off x="0" y="-31191"/>
              <a:ext cx="9144000" cy="743350"/>
            </a:xfrm>
            <a:prstGeom prst="rect">
              <a:avLst/>
            </a:prstGeom>
            <a:solidFill>
              <a:srgbClr val="F8F4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F0665723-FD0D-2170-8EE2-A0A3B854A5C0}"/>
                </a:ext>
              </a:extLst>
            </p:cNvPr>
            <p:cNvSpPr txBox="1">
              <a:spLocks/>
            </p:cNvSpPr>
            <p:nvPr/>
          </p:nvSpPr>
          <p:spPr>
            <a:xfrm>
              <a:off x="92597" y="216807"/>
              <a:ext cx="9051403" cy="64174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fr-FR" sz="1400" dirty="0">
                  <a:latin typeface="Helvetica Light" panose="020B0403020202020204" pitchFamily="34" charset="0"/>
                  <a:cs typeface="Arial" panose="020B0604020202020204" pitchFamily="34" charset="0"/>
                </a:rPr>
                <a:t>Réunion préparatoire						20/03/2026 UMR 8068 Temps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3540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2324</TotalTime>
  <Words>261</Words>
  <Application>Microsoft Macintosh PowerPoint</Application>
  <PresentationFormat>On-screen Show (4:3)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Helvetica Light</vt:lpstr>
      <vt:lpstr>Wingdings</vt:lpstr>
      <vt:lpstr>Office Theme</vt:lpstr>
      <vt:lpstr>Lexicon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Hermann</dc:creator>
  <cp:lastModifiedBy>aymeric hermann</cp:lastModifiedBy>
  <cp:revision>17</cp:revision>
  <dcterms:created xsi:type="dcterms:W3CDTF">2024-11-22T10:54:56Z</dcterms:created>
  <dcterms:modified xsi:type="dcterms:W3CDTF">2026-03-20T12:50:21Z</dcterms:modified>
</cp:coreProperties>
</file>